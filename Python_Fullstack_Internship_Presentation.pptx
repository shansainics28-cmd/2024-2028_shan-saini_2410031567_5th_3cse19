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0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645920"/>
            <a:ext cx="5029200" cy="5029200"/>
          </a:xfrm>
          <a:prstGeom prst="ellipse">
            <a:avLst/>
          </a:prstGeom>
          <a:solidFill>
            <a:srgbClr val="1B2752"/>
          </a:solidFill>
          <a:ln w="12700">
            <a:solidFill>
              <a:srgbClr val="1B27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247120" y="2926080"/>
            <a:ext cx="3840480" cy="3840480"/>
          </a:xfrm>
          <a:prstGeom prst="ellipse">
            <a:avLst/>
          </a:prstGeom>
          <a:solidFill>
            <a:srgbClr val="A61C2E">
              <a:alpha val="45000"/>
            </a:srgbClr>
          </a:solidFill>
          <a:ln w="12700">
            <a:solidFill>
              <a:srgbClr val="A61C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457200"/>
            <a:ext cx="23774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/home/claude/logo_extract-0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76072"/>
            <a:ext cx="2139696" cy="6400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02920" y="2148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9FB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PRESENTATION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2514600"/>
            <a:ext cx="8686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Fullstack Developer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Virtual Internship</a:t>
            </a:r>
            <a:endParaRPr lang="en-US" sz="4000" dirty="0"/>
          </a:p>
        </p:txBody>
      </p:sp>
      <p:sp>
        <p:nvSpPr>
          <p:cNvPr id="8" name="Shape 5"/>
          <p:cNvSpPr/>
          <p:nvPr/>
        </p:nvSpPr>
        <p:spPr>
          <a:xfrm>
            <a:off x="530352" y="4160520"/>
            <a:ext cx="1005840" cy="0"/>
          </a:xfrm>
          <a:prstGeom prst="line">
            <a:avLst/>
          </a:prstGeom>
          <a:noFill/>
          <a:ln w="38100">
            <a:solidFill>
              <a:srgbClr val="A61C2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02920" y="4343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Shan Saini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502920" y="473659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No.: 2410031567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02920" y="50292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– Computer Science &amp; Engineering | 5th Semester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502920" y="56235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EduSkills Academy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02920" y="5897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7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collaboration with AICTE – National Internship Portal, Ministry of Education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6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EEF0F7"/>
          </a:solidFill>
          <a:ln w="12700">
            <a:solidFill>
              <a:srgbClr val="EEF0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4088" y="175564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B2752"/>
          </a:solidFill>
          <a:ln w="12700">
            <a:solidFill>
              <a:srgbClr val="1B275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04088" y="1755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04088" y="2340864"/>
            <a:ext cx="31181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3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04088" y="2651760"/>
            <a:ext cx="3118104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fullstack web development – front-end, back-end, databases and APIs.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15968" y="155448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EEF0F7"/>
          </a:solidFill>
          <a:ln w="12700">
            <a:solidFill>
              <a:srgbClr val="EEF0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17136" y="175564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A61C2E"/>
          </a:solidFill>
          <a:ln w="12700">
            <a:solidFill>
              <a:srgbClr val="A61C2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17136" y="1755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517136" y="2340864"/>
            <a:ext cx="31181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3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Duration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17136" y="2651760"/>
            <a:ext cx="3118104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Weeks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2026 – October 2026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29016" y="155448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EEF0F7"/>
          </a:solidFill>
          <a:ln w="12700">
            <a:solidFill>
              <a:srgbClr val="EEF0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30184" y="175564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B2752"/>
          </a:solidFill>
          <a:ln w="12700">
            <a:solidFill>
              <a:srgbClr val="1B275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30184" y="1755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330184" y="2340864"/>
            <a:ext cx="31181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3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Organization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330184" y="2651760"/>
            <a:ext cx="3118104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EduSkills Academy, in collaboration with AICTE – National Internship Portal.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3337560"/>
            <a:ext cx="11183112" cy="1554480"/>
          </a:xfrm>
          <a:prstGeom prst="roundRect">
            <a:avLst>
              <a:gd name="adj" fmla="val 4706"/>
            </a:avLst>
          </a:prstGeom>
          <a:solidFill>
            <a:srgbClr val="1B2752"/>
          </a:solidFill>
          <a:ln w="12700">
            <a:solidFill>
              <a:srgbClr val="1B275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3502152"/>
            <a:ext cx="10634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internship covered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" y="3913632"/>
            <a:ext cx="10634472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Learning included weekly modules, hands-on coding tasks, and a capstone fullstack project.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 internship focused on building a strong foundation across Python, web technologies, databases and deployment.</a:t>
            </a:r>
            <a:endParaRPr lang="en-US" sz="1150" dirty="0"/>
          </a:p>
        </p:txBody>
      </p:sp>
      <p:pic>
        <p:nvPicPr>
          <p:cNvPr id="22" name="Image 0" descr="/home/claude/logo_extract-0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400800"/>
            <a:ext cx="822960" cy="301752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1417320" y="6400800"/>
            <a:ext cx="3657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 | 5th Semester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11228832" y="6400800"/>
            <a:ext cx="457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6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INTERNSHIP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5440680" cy="1051560"/>
          </a:xfrm>
          <a:prstGeom prst="roundRect">
            <a:avLst>
              <a:gd name="adj" fmla="val 6957"/>
            </a:avLst>
          </a:prstGeom>
          <a:solidFill>
            <a:srgbClr val="EEF0F7"/>
          </a:solidFill>
          <a:ln w="12700">
            <a:solidFill>
              <a:srgbClr val="EEF0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860804"/>
            <a:ext cx="438912" cy="438912"/>
          </a:xfrm>
          <a:prstGeom prst="ellipse">
            <a:avLst/>
          </a:prstGeom>
          <a:solidFill>
            <a:srgbClr val="A61C2E"/>
          </a:solidFill>
          <a:ln w="12700">
            <a:solidFill>
              <a:srgbClr val="A61C2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8608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645920"/>
            <a:ext cx="4480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Python fundamentals and object-oriented programming.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440680" cy="1051560"/>
          </a:xfrm>
          <a:prstGeom prst="roundRect">
            <a:avLst>
              <a:gd name="adj" fmla="val 6957"/>
            </a:avLst>
          </a:prstGeom>
          <a:solidFill>
            <a:srgbClr val="EEF0F7"/>
          </a:solidFill>
          <a:ln w="12700">
            <a:solidFill>
              <a:srgbClr val="EEF0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92240" y="1860804"/>
            <a:ext cx="438912" cy="438912"/>
          </a:xfrm>
          <a:prstGeom prst="ellipse">
            <a:avLst/>
          </a:prstGeom>
          <a:solidFill>
            <a:srgbClr val="1B2752"/>
          </a:solidFill>
          <a:ln w="12700">
            <a:solidFill>
              <a:srgbClr val="1B275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92240" y="18608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086600" y="1645920"/>
            <a:ext cx="4480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front-end development using HTML, CSS and JavaScript.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2834640"/>
            <a:ext cx="5440680" cy="1051560"/>
          </a:xfrm>
          <a:prstGeom prst="roundRect">
            <a:avLst>
              <a:gd name="adj" fmla="val 6957"/>
            </a:avLst>
          </a:prstGeom>
          <a:solidFill>
            <a:srgbClr val="EEF0F7"/>
          </a:solidFill>
          <a:ln w="12700">
            <a:solidFill>
              <a:srgbClr val="EEF0F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3140964"/>
            <a:ext cx="438912" cy="438912"/>
          </a:xfrm>
          <a:prstGeom prst="ellipse">
            <a:avLst/>
          </a:prstGeom>
          <a:solidFill>
            <a:srgbClr val="A61C2E"/>
          </a:solidFill>
          <a:ln w="12700">
            <a:solidFill>
              <a:srgbClr val="A61C2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31409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2926080"/>
            <a:ext cx="4480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back-end applications using the Flask framework.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09360" y="2834640"/>
            <a:ext cx="5440680" cy="1051560"/>
          </a:xfrm>
          <a:prstGeom prst="roundRect">
            <a:avLst>
              <a:gd name="adj" fmla="val 6957"/>
            </a:avLst>
          </a:prstGeom>
          <a:solidFill>
            <a:srgbClr val="EEF0F7"/>
          </a:solidFill>
          <a:ln w="12700">
            <a:solidFill>
              <a:srgbClr val="EEF0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92240" y="3140964"/>
            <a:ext cx="438912" cy="438912"/>
          </a:xfrm>
          <a:prstGeom prst="ellipse">
            <a:avLst/>
          </a:prstGeom>
          <a:solidFill>
            <a:srgbClr val="1B2752"/>
          </a:solidFill>
          <a:ln w="12700">
            <a:solidFill>
              <a:srgbClr val="1B275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92240" y="31409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086600" y="2926080"/>
            <a:ext cx="4480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databases and integrate them using an ORM.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4114800"/>
            <a:ext cx="5440680" cy="1051560"/>
          </a:xfrm>
          <a:prstGeom prst="roundRect">
            <a:avLst>
              <a:gd name="adj" fmla="val 6957"/>
            </a:avLst>
          </a:prstGeom>
          <a:solidFill>
            <a:srgbClr val="EEF0F7"/>
          </a:solidFill>
          <a:ln w="12700">
            <a:solidFill>
              <a:srgbClr val="EEF0F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" y="4421124"/>
            <a:ext cx="438912" cy="438912"/>
          </a:xfrm>
          <a:prstGeom prst="ellipse">
            <a:avLst/>
          </a:prstGeom>
          <a:solidFill>
            <a:srgbClr val="A61C2E"/>
          </a:solidFill>
          <a:ln w="12700">
            <a:solidFill>
              <a:srgbClr val="A61C2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5800" y="44211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280160" y="4206240"/>
            <a:ext cx="4480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consume RESTful APIs for fullstack integration.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309360" y="4114800"/>
            <a:ext cx="5440680" cy="1051560"/>
          </a:xfrm>
          <a:prstGeom prst="roundRect">
            <a:avLst>
              <a:gd name="adj" fmla="val 6957"/>
            </a:avLst>
          </a:prstGeom>
          <a:solidFill>
            <a:srgbClr val="EEF0F7"/>
          </a:solidFill>
          <a:ln w="12700">
            <a:solidFill>
              <a:srgbClr val="EEF0F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92240" y="4421124"/>
            <a:ext cx="438912" cy="438912"/>
          </a:xfrm>
          <a:prstGeom prst="ellipse">
            <a:avLst/>
          </a:prstGeom>
          <a:solidFill>
            <a:srgbClr val="1B2752"/>
          </a:solidFill>
          <a:ln w="12700">
            <a:solidFill>
              <a:srgbClr val="1B275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92240" y="44211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086600" y="4206240"/>
            <a:ext cx="4480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all concepts by developing a complete capstone project.</a:t>
            </a:r>
            <a:endParaRPr lang="en-US" sz="1200" dirty="0"/>
          </a:p>
        </p:txBody>
      </p:sp>
      <p:pic>
        <p:nvPicPr>
          <p:cNvPr id="28" name="Image 0" descr="/home/claude/logo_extract-0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400800"/>
            <a:ext cx="822960" cy="301752"/>
          </a:xfrm>
          <a:prstGeom prst="rect">
            <a:avLst/>
          </a:prstGeom>
        </p:spPr>
      </p:pic>
      <p:sp>
        <p:nvSpPr>
          <p:cNvPr id="29" name="Text 26"/>
          <p:cNvSpPr txBox="1"/>
          <p:nvPr/>
        </p:nvSpPr>
        <p:spPr>
          <a:xfrm>
            <a:off x="1417320" y="6400800"/>
            <a:ext cx="3657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 | 5th Semester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11228832" y="6400800"/>
            <a:ext cx="457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6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Areas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1810512" cy="3291840"/>
          </a:xfrm>
          <a:prstGeom prst="rect">
            <a:avLst/>
          </a:prstGeom>
          <a:solidFill>
            <a:srgbClr val="1B2752"/>
          </a:solidFill>
          <a:ln w="12700">
            <a:solidFill>
              <a:srgbClr val="1B275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719072"/>
            <a:ext cx="1444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04088" y="2450592"/>
            <a:ext cx="45720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2542032"/>
            <a:ext cx="14447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&amp; OOP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880360"/>
            <a:ext cx="1444752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Fundamentals, syntax, functions and object-oriented programming.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46020" y="1554480"/>
            <a:ext cx="1810512" cy="3291840"/>
          </a:xfrm>
          <a:prstGeom prst="rect">
            <a:avLst/>
          </a:prstGeom>
          <a:solidFill>
            <a:srgbClr val="A61C2E"/>
          </a:solidFill>
          <a:ln w="12700">
            <a:solidFill>
              <a:srgbClr val="A61C2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28900" y="1719072"/>
            <a:ext cx="1444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2647188" y="2450592"/>
            <a:ext cx="45720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628900" y="2542032"/>
            <a:ext cx="14447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Front-End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628900" y="2880360"/>
            <a:ext cx="1444752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HTML, CSS, JavaScript and responsive design with Bootstrap.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89120" y="1554480"/>
            <a:ext cx="1810512" cy="3291840"/>
          </a:xfrm>
          <a:prstGeom prst="rect">
            <a:avLst/>
          </a:prstGeom>
          <a:solidFill>
            <a:srgbClr val="1B2752"/>
          </a:solidFill>
          <a:ln w="12700">
            <a:solidFill>
              <a:srgbClr val="1B275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0" y="1719072"/>
            <a:ext cx="1444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4590288" y="2450592"/>
            <a:ext cx="45720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0" y="2542032"/>
            <a:ext cx="14447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Back-End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0" y="2880360"/>
            <a:ext cx="1444752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framework, routing, templates and MVC-style architecture.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332220" y="1554480"/>
            <a:ext cx="1810512" cy="3291840"/>
          </a:xfrm>
          <a:prstGeom prst="rect">
            <a:avLst/>
          </a:prstGeom>
          <a:solidFill>
            <a:srgbClr val="A61C2E"/>
          </a:solidFill>
          <a:ln w="12700">
            <a:solidFill>
              <a:srgbClr val="A61C2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15100" y="1719072"/>
            <a:ext cx="1444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6533388" y="2450592"/>
            <a:ext cx="45720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15100" y="2542032"/>
            <a:ext cx="14447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515100" y="2880360"/>
            <a:ext cx="1444752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design, SQL and ORM-based data operations.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275320" y="1554480"/>
            <a:ext cx="1810512" cy="3291840"/>
          </a:xfrm>
          <a:prstGeom prst="rect">
            <a:avLst/>
          </a:prstGeom>
          <a:solidFill>
            <a:srgbClr val="1B2752"/>
          </a:solidFill>
          <a:ln w="12700">
            <a:solidFill>
              <a:srgbClr val="1B275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458200" y="1719072"/>
            <a:ext cx="1444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26" name="Shape 24"/>
          <p:cNvSpPr/>
          <p:nvPr/>
        </p:nvSpPr>
        <p:spPr>
          <a:xfrm>
            <a:off x="8476488" y="2450592"/>
            <a:ext cx="45720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458200" y="2542032"/>
            <a:ext cx="14447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APIs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8458200" y="2880360"/>
            <a:ext cx="1444752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RESTful API design and fullstack front-end/back-end integration.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0218420" y="1554480"/>
            <a:ext cx="1810512" cy="3291840"/>
          </a:xfrm>
          <a:prstGeom prst="rect">
            <a:avLst/>
          </a:prstGeom>
          <a:solidFill>
            <a:srgbClr val="A61C2E"/>
          </a:solidFill>
          <a:ln w="12700">
            <a:solidFill>
              <a:srgbClr val="A61C2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401300" y="1719072"/>
            <a:ext cx="1444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600" dirty="0"/>
          </a:p>
        </p:txBody>
      </p:sp>
      <p:sp>
        <p:nvSpPr>
          <p:cNvPr id="31" name="Shape 29"/>
          <p:cNvSpPr/>
          <p:nvPr/>
        </p:nvSpPr>
        <p:spPr>
          <a:xfrm>
            <a:off x="10419588" y="2450592"/>
            <a:ext cx="45720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401300" y="2542032"/>
            <a:ext cx="14447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10401300" y="2880360"/>
            <a:ext cx="1444752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Testing, version control, and application deployment.</a:t>
            </a:r>
            <a:endParaRPr lang="en-US" sz="1000" dirty="0"/>
          </a:p>
        </p:txBody>
      </p:sp>
      <p:pic>
        <p:nvPicPr>
          <p:cNvPr id="34" name="Image 0" descr="/home/claude/logo_extract-0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400800"/>
            <a:ext cx="822960" cy="301752"/>
          </a:xfrm>
          <a:prstGeom prst="rect">
            <a:avLst/>
          </a:prstGeom>
        </p:spPr>
      </p:pic>
      <p:sp>
        <p:nvSpPr>
          <p:cNvPr id="35" name="Text 32"/>
          <p:cNvSpPr txBox="1"/>
          <p:nvPr/>
        </p:nvSpPr>
        <p:spPr>
          <a:xfrm>
            <a:off x="1417320" y="6400800"/>
            <a:ext cx="3657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 | 5th Semester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11228832" y="6400800"/>
            <a:ext cx="457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6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1-2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Fundamentals &amp; OOP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5087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3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Topics Covered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2672791" cy="502920"/>
          </a:xfrm>
          <a:prstGeom prst="roundRect">
            <a:avLst>
              <a:gd name="adj" fmla="val 50909"/>
            </a:avLst>
          </a:prstGeom>
          <a:solidFill>
            <a:srgbClr val="CFE0F5"/>
          </a:solidFill>
          <a:ln w="12700">
            <a:solidFill>
              <a:srgbClr val="CFE0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1920240"/>
            <a:ext cx="2672791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2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 &amp; control structures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40303" y="1920240"/>
            <a:ext cx="1762049" cy="502920"/>
          </a:xfrm>
          <a:prstGeom prst="roundRect">
            <a:avLst>
              <a:gd name="adj" fmla="val 50909"/>
            </a:avLst>
          </a:prstGeom>
          <a:solidFill>
            <a:srgbClr val="CFE0F5"/>
          </a:solidFill>
          <a:ln w="12700">
            <a:solidFill>
              <a:srgbClr val="CFE0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40303" y="1920240"/>
            <a:ext cx="176204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2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&amp; modules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2920" y="2560320"/>
            <a:ext cx="2217420" cy="502920"/>
          </a:xfrm>
          <a:prstGeom prst="roundRect">
            <a:avLst>
              <a:gd name="adj" fmla="val 50909"/>
            </a:avLst>
          </a:prstGeom>
          <a:solidFill>
            <a:srgbClr val="CFE0F5"/>
          </a:solidFill>
          <a:ln w="12700">
            <a:solidFill>
              <a:srgbClr val="CFE0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2560320"/>
            <a:ext cx="22174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2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&amp; file handling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884932" y="2560320"/>
            <a:ext cx="1610258" cy="502920"/>
          </a:xfrm>
          <a:prstGeom prst="roundRect">
            <a:avLst>
              <a:gd name="adj" fmla="val 50909"/>
            </a:avLst>
          </a:prstGeom>
          <a:solidFill>
            <a:srgbClr val="CFE0F5"/>
          </a:solidFill>
          <a:ln w="12700">
            <a:solidFill>
              <a:srgbClr val="CFE0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884932" y="2560320"/>
            <a:ext cx="161025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2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&amp; objects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59782" y="2560320"/>
            <a:ext cx="2293315" cy="502920"/>
          </a:xfrm>
          <a:prstGeom prst="roundRect">
            <a:avLst>
              <a:gd name="adj" fmla="val 50909"/>
            </a:avLst>
          </a:prstGeom>
          <a:solidFill>
            <a:srgbClr val="CFE0F5"/>
          </a:solidFill>
          <a:ln w="12700">
            <a:solidFill>
              <a:srgbClr val="CFE0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659782" y="2560320"/>
            <a:ext cx="22933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2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 &amp; polymorphism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3703320"/>
            <a:ext cx="6675120" cy="1691640"/>
          </a:xfrm>
          <a:prstGeom prst="roundRect">
            <a:avLst>
              <a:gd name="adj" fmla="val 4324"/>
            </a:avLst>
          </a:prstGeom>
          <a:solidFill>
            <a:srgbClr val="EEF0F7"/>
          </a:solidFill>
          <a:ln w="12700">
            <a:solidFill>
              <a:srgbClr val="EEF0F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3867912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3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Learned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4279392"/>
            <a:ext cx="6126480" cy="978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strong foundation in Python syntax and object-oriented design, later used to model the project's Book, Member and Transaction entities.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452360" y="1508760"/>
            <a:ext cx="4233672" cy="3886200"/>
          </a:xfrm>
          <a:prstGeom prst="roundRect">
            <a:avLst>
              <a:gd name="adj" fmla="val 1882"/>
            </a:avLst>
          </a:prstGeom>
          <a:solidFill>
            <a:srgbClr val="1B2752"/>
          </a:solidFill>
          <a:ln w="12700">
            <a:solidFill>
              <a:srgbClr val="1B275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26680" y="1673352"/>
            <a:ext cx="3685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  Challenge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726680" y="2084832"/>
            <a:ext cx="3685032" cy="3172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how inheritance and method overriding affect program behaviour required extra practice with real examples.</a:t>
            </a:r>
            <a:endParaRPr lang="en-US" sz="1150" dirty="0"/>
          </a:p>
        </p:txBody>
      </p:sp>
      <p:pic>
        <p:nvPicPr>
          <p:cNvPr id="21" name="Image 0" descr="/home/claude/logo_extract-0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400800"/>
            <a:ext cx="822960" cy="301752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1417320" y="6400800"/>
            <a:ext cx="3657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 | 5th Semester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1228832" y="6400800"/>
            <a:ext cx="457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6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3-4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Front-End Development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5087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3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Topics Covered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1458468" cy="502920"/>
          </a:xfrm>
          <a:prstGeom prst="roundRect">
            <a:avLst>
              <a:gd name="adj" fmla="val 50909"/>
            </a:avLst>
          </a:prstGeom>
          <a:solidFill>
            <a:srgbClr val="CFE0F5"/>
          </a:solidFill>
          <a:ln w="12700">
            <a:solidFill>
              <a:srgbClr val="CFE0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1920240"/>
            <a:ext cx="14584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2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structure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125980" y="1920240"/>
            <a:ext cx="1762049" cy="502920"/>
          </a:xfrm>
          <a:prstGeom prst="roundRect">
            <a:avLst>
              <a:gd name="adj" fmla="val 50909"/>
            </a:avLst>
          </a:prstGeom>
          <a:solidFill>
            <a:srgbClr val="CFE0F5"/>
          </a:solidFill>
          <a:ln w="12700">
            <a:solidFill>
              <a:srgbClr val="CFE0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125980" y="1920240"/>
            <a:ext cx="176204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2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 &amp; Flexbox/Grid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052621" y="1920240"/>
            <a:ext cx="1610258" cy="502920"/>
          </a:xfrm>
          <a:prstGeom prst="roundRect">
            <a:avLst>
              <a:gd name="adj" fmla="val 50909"/>
            </a:avLst>
          </a:prstGeom>
          <a:solidFill>
            <a:srgbClr val="CFE0F5"/>
          </a:solidFill>
          <a:ln w="12700">
            <a:solidFill>
              <a:srgbClr val="CFE0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52621" y="1920240"/>
            <a:ext cx="161025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2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basics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827471" y="1920240"/>
            <a:ext cx="1003097" cy="502920"/>
          </a:xfrm>
          <a:prstGeom prst="roundRect">
            <a:avLst>
              <a:gd name="adj" fmla="val 50909"/>
            </a:avLst>
          </a:prstGeom>
          <a:solidFill>
            <a:srgbClr val="CFE0F5"/>
          </a:solidFill>
          <a:ln w="12700">
            <a:solidFill>
              <a:srgbClr val="CFE0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827471" y="1920240"/>
            <a:ext cx="1003097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2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2560320"/>
            <a:ext cx="1913839" cy="502920"/>
          </a:xfrm>
          <a:prstGeom prst="roundRect">
            <a:avLst>
              <a:gd name="adj" fmla="val 50909"/>
            </a:avLst>
          </a:prstGeom>
          <a:solidFill>
            <a:srgbClr val="CFE0F5"/>
          </a:solidFill>
          <a:ln w="12700">
            <a:solidFill>
              <a:srgbClr val="CFE0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2920" y="2560320"/>
            <a:ext cx="191383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2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&amp; form validation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3703320"/>
            <a:ext cx="6675120" cy="1691640"/>
          </a:xfrm>
          <a:prstGeom prst="roundRect">
            <a:avLst>
              <a:gd name="adj" fmla="val 4324"/>
            </a:avLst>
          </a:prstGeom>
          <a:solidFill>
            <a:srgbClr val="EEF0F7"/>
          </a:solidFill>
          <a:ln w="12700">
            <a:solidFill>
              <a:srgbClr val="EEF0F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3867912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3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Learned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4279392"/>
            <a:ext cx="6126480" cy="978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to structure, style and validate web pages, and to make layouts responsive across different screen sizes.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452360" y="1508760"/>
            <a:ext cx="4233672" cy="3886200"/>
          </a:xfrm>
          <a:prstGeom prst="roundRect">
            <a:avLst>
              <a:gd name="adj" fmla="val 1882"/>
            </a:avLst>
          </a:prstGeom>
          <a:solidFill>
            <a:srgbClr val="1B2752"/>
          </a:solidFill>
          <a:ln w="12700">
            <a:solidFill>
              <a:srgbClr val="1B275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26680" y="1673352"/>
            <a:ext cx="3685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  Challenge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726680" y="2084832"/>
            <a:ext cx="3685032" cy="3172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CSS layout concepts with JavaScript-driven interactivity was the main challenge this stage.</a:t>
            </a:r>
            <a:endParaRPr lang="en-US" sz="1150" dirty="0"/>
          </a:p>
        </p:txBody>
      </p:sp>
      <p:pic>
        <p:nvPicPr>
          <p:cNvPr id="21" name="Image 0" descr="/home/claude/logo_extract-0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400800"/>
            <a:ext cx="822960" cy="301752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1417320" y="6400800"/>
            <a:ext cx="3657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 | 5th Semester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1228832" y="6400800"/>
            <a:ext cx="457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6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5-6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Back-End &amp; Databases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5087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3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Topics Covered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1913839" cy="502920"/>
          </a:xfrm>
          <a:prstGeom prst="roundRect">
            <a:avLst>
              <a:gd name="adj" fmla="val 50909"/>
            </a:avLst>
          </a:prstGeom>
          <a:solidFill>
            <a:srgbClr val="CFE0F5"/>
          </a:solidFill>
          <a:ln w="12700">
            <a:solidFill>
              <a:srgbClr val="CFE0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1920240"/>
            <a:ext cx="191383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2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routing &amp; views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581351" y="1920240"/>
            <a:ext cx="1989734" cy="502920"/>
          </a:xfrm>
          <a:prstGeom prst="roundRect">
            <a:avLst>
              <a:gd name="adj" fmla="val 50909"/>
            </a:avLst>
          </a:prstGeom>
          <a:solidFill>
            <a:srgbClr val="CFE0F5"/>
          </a:solidFill>
          <a:ln w="12700">
            <a:solidFill>
              <a:srgbClr val="CFE0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81351" y="1920240"/>
            <a:ext cx="198973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2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MVC-style architecture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35678" y="1920240"/>
            <a:ext cx="1534363" cy="502920"/>
          </a:xfrm>
          <a:prstGeom prst="roundRect">
            <a:avLst>
              <a:gd name="adj" fmla="val 50909"/>
            </a:avLst>
          </a:prstGeom>
          <a:solidFill>
            <a:srgbClr val="CFE0F5"/>
          </a:solidFill>
          <a:ln w="12700">
            <a:solidFill>
              <a:srgbClr val="CFE0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35678" y="1920240"/>
            <a:ext cx="1534363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2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fundamentals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2560320"/>
            <a:ext cx="1382573" cy="502920"/>
          </a:xfrm>
          <a:prstGeom prst="roundRect">
            <a:avLst>
              <a:gd name="adj" fmla="val 50909"/>
            </a:avLst>
          </a:prstGeom>
          <a:solidFill>
            <a:srgbClr val="CFE0F5"/>
          </a:solidFill>
          <a:ln w="12700">
            <a:solidFill>
              <a:srgbClr val="CFE0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2920" y="2560320"/>
            <a:ext cx="1382573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2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ORM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050085" y="2560320"/>
            <a:ext cx="1989734" cy="502920"/>
          </a:xfrm>
          <a:prstGeom prst="roundRect">
            <a:avLst>
              <a:gd name="adj" fmla="val 50909"/>
            </a:avLst>
          </a:prstGeom>
          <a:solidFill>
            <a:srgbClr val="CFE0F5"/>
          </a:solidFill>
          <a:ln w="12700">
            <a:solidFill>
              <a:srgbClr val="CFE0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050085" y="2560320"/>
            <a:ext cx="198973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2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relationships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3703320"/>
            <a:ext cx="6675120" cy="1691640"/>
          </a:xfrm>
          <a:prstGeom prst="roundRect">
            <a:avLst>
              <a:gd name="adj" fmla="val 4324"/>
            </a:avLst>
          </a:prstGeom>
          <a:solidFill>
            <a:srgbClr val="EEF0F7"/>
          </a:solidFill>
          <a:ln w="12700">
            <a:solidFill>
              <a:srgbClr val="EEF0F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3867912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3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Learned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4279392"/>
            <a:ext cx="6126480" cy="978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Understood how a request flows through a Flask route, and how to persist and query data using an ORM instead of raw SQL.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452360" y="1508760"/>
            <a:ext cx="4233672" cy="3886200"/>
          </a:xfrm>
          <a:prstGeom prst="roundRect">
            <a:avLst>
              <a:gd name="adj" fmla="val 1882"/>
            </a:avLst>
          </a:prstGeom>
          <a:solidFill>
            <a:srgbClr val="1B2752"/>
          </a:solidFill>
          <a:ln w="12700">
            <a:solidFill>
              <a:srgbClr val="1B275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26680" y="1673352"/>
            <a:ext cx="3685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  Challenge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726680" y="2084832"/>
            <a:ext cx="3685032" cy="3172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relational database concepts onto Python ORM objects took time to fully internalise.</a:t>
            </a:r>
            <a:endParaRPr lang="en-US" sz="1150" dirty="0"/>
          </a:p>
        </p:txBody>
      </p:sp>
      <p:pic>
        <p:nvPicPr>
          <p:cNvPr id="21" name="Image 0" descr="/home/claude/logo_extract-0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400800"/>
            <a:ext cx="822960" cy="301752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1417320" y="6400800"/>
            <a:ext cx="3657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 | 5th Semester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1228832" y="6400800"/>
            <a:ext cx="457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6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7-8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APIs, Testing &amp; Capstone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5087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3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Topics Covered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1686154" cy="502920"/>
          </a:xfrm>
          <a:prstGeom prst="roundRect">
            <a:avLst>
              <a:gd name="adj" fmla="val 50909"/>
            </a:avLst>
          </a:prstGeom>
          <a:solidFill>
            <a:srgbClr val="CFE0F5"/>
          </a:solidFill>
          <a:ln w="12700">
            <a:solidFill>
              <a:srgbClr val="CFE0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1920240"/>
            <a:ext cx="168615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2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RESTful API design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353666" y="1920240"/>
            <a:ext cx="2596896" cy="502920"/>
          </a:xfrm>
          <a:prstGeom prst="roundRect">
            <a:avLst>
              <a:gd name="adj" fmla="val 50909"/>
            </a:avLst>
          </a:prstGeom>
          <a:solidFill>
            <a:srgbClr val="CFE0F5"/>
          </a:solidFill>
          <a:ln w="12700">
            <a:solidFill>
              <a:srgbClr val="CFE0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353666" y="1920240"/>
            <a:ext cx="25968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2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Front-end/back-end integration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115154" y="1920240"/>
            <a:ext cx="1913839" cy="502920"/>
          </a:xfrm>
          <a:prstGeom prst="roundRect">
            <a:avLst>
              <a:gd name="adj" fmla="val 50909"/>
            </a:avLst>
          </a:prstGeom>
          <a:solidFill>
            <a:srgbClr val="CFE0F5"/>
          </a:solidFill>
          <a:ln w="12700">
            <a:solidFill>
              <a:srgbClr val="CFE0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115154" y="1920240"/>
            <a:ext cx="191383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2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basics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2560320"/>
            <a:ext cx="1230782" cy="502920"/>
          </a:xfrm>
          <a:prstGeom prst="roundRect">
            <a:avLst>
              <a:gd name="adj" fmla="val 50909"/>
            </a:avLst>
          </a:prstGeom>
          <a:solidFill>
            <a:srgbClr val="CFE0F5"/>
          </a:solidFill>
          <a:ln w="12700">
            <a:solidFill>
              <a:srgbClr val="CFE0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2920" y="2560320"/>
            <a:ext cx="123078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2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testing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98294" y="2560320"/>
            <a:ext cx="1534363" cy="502920"/>
          </a:xfrm>
          <a:prstGeom prst="roundRect">
            <a:avLst>
              <a:gd name="adj" fmla="val 50909"/>
            </a:avLst>
          </a:prstGeom>
          <a:solidFill>
            <a:srgbClr val="CFE0F5"/>
          </a:solidFill>
          <a:ln w="12700">
            <a:solidFill>
              <a:srgbClr val="CFE0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898294" y="2560320"/>
            <a:ext cx="1534363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2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deployment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3703320"/>
            <a:ext cx="6675120" cy="1691640"/>
          </a:xfrm>
          <a:prstGeom prst="roundRect">
            <a:avLst>
              <a:gd name="adj" fmla="val 4324"/>
            </a:avLst>
          </a:prstGeom>
          <a:solidFill>
            <a:srgbClr val="EEF0F7"/>
          </a:solidFill>
          <a:ln w="12700">
            <a:solidFill>
              <a:srgbClr val="EEF0F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3867912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3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Learned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4279392"/>
            <a:ext cx="6126480" cy="978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to connect the front end and back end through APIs, and brought every concept together into the capstone project.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452360" y="1508760"/>
            <a:ext cx="4233672" cy="3886200"/>
          </a:xfrm>
          <a:prstGeom prst="roundRect">
            <a:avLst>
              <a:gd name="adj" fmla="val 1882"/>
            </a:avLst>
          </a:prstGeom>
          <a:solidFill>
            <a:srgbClr val="1B2752"/>
          </a:solidFill>
          <a:ln w="12700">
            <a:solidFill>
              <a:srgbClr val="1B275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26680" y="1673352"/>
            <a:ext cx="3685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  Challenge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726680" y="2084832"/>
            <a:ext cx="3685032" cy="3172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Integrating and testing all the fullstack pieces together, end-to-end, needed careful, methodical debugging.</a:t>
            </a:r>
            <a:endParaRPr lang="en-US" sz="1150" dirty="0"/>
          </a:p>
        </p:txBody>
      </p:sp>
      <p:pic>
        <p:nvPicPr>
          <p:cNvPr id="21" name="Image 0" descr="/home/claude/logo_extract-0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400800"/>
            <a:ext cx="822960" cy="301752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1417320" y="6400800"/>
            <a:ext cx="3657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 | 5th Semester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1228832" y="6400800"/>
            <a:ext cx="457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6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Library Management System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463040"/>
            <a:ext cx="111831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A6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Flask</a:t>
            </a:r>
            <a:pPr indent="0" marL="0">
              <a:buNone/>
            </a:pPr>
            <a:r>
              <a:rPr lang="en-US" sz="12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a web-based capstone project completed to integrate every fullstack concept learned during the internship.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2148840"/>
            <a:ext cx="3520440" cy="1280160"/>
          </a:xfrm>
          <a:prstGeom prst="roundRect">
            <a:avLst>
              <a:gd name="adj" fmla="val 5714"/>
            </a:avLst>
          </a:prstGeom>
          <a:solidFill>
            <a:srgbClr val="EEF0F7"/>
          </a:solidFill>
          <a:ln w="12700">
            <a:solidFill>
              <a:srgbClr val="EEF0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4088" y="235000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B2752"/>
          </a:solidFill>
          <a:ln w="12700">
            <a:solidFill>
              <a:srgbClr val="1B275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04088" y="2350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04088" y="2935224"/>
            <a:ext cx="31181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3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Language &amp; Framework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04088" y="3246120"/>
            <a:ext cx="3118104" cy="45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(Flask), Jinja2 templates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15968" y="2148840"/>
            <a:ext cx="3520440" cy="1280160"/>
          </a:xfrm>
          <a:prstGeom prst="roundRect">
            <a:avLst>
              <a:gd name="adj" fmla="val 5714"/>
            </a:avLst>
          </a:prstGeom>
          <a:solidFill>
            <a:srgbClr val="EEF0F7"/>
          </a:solidFill>
          <a:ln w="12700">
            <a:solidFill>
              <a:srgbClr val="EEF0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17136" y="235000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A61C2E"/>
          </a:solidFill>
          <a:ln w="12700">
            <a:solidFill>
              <a:srgbClr val="A61C2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17136" y="2350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517136" y="2935224"/>
            <a:ext cx="31181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3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Type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517136" y="3246120"/>
            <a:ext cx="3118104" cy="45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library-management web application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129016" y="2148840"/>
            <a:ext cx="3520440" cy="1280160"/>
          </a:xfrm>
          <a:prstGeom prst="roundRect">
            <a:avLst>
              <a:gd name="adj" fmla="val 5714"/>
            </a:avLst>
          </a:prstGeom>
          <a:solidFill>
            <a:srgbClr val="EEF0F7"/>
          </a:solidFill>
          <a:ln w="12700">
            <a:solidFill>
              <a:srgbClr val="EEF0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30184" y="235000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B2752"/>
          </a:solidFill>
          <a:ln w="12700">
            <a:solidFill>
              <a:srgbClr val="1B275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330184" y="2350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330184" y="2935224"/>
            <a:ext cx="31181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3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Track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330184" y="3246120"/>
            <a:ext cx="3118104" cy="45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EduSkills Academy / AICTE – National Internship Portal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2920" y="3794760"/>
            <a:ext cx="11183112" cy="1600200"/>
          </a:xfrm>
          <a:prstGeom prst="roundRect">
            <a:avLst>
              <a:gd name="adj" fmla="val 4571"/>
            </a:avLst>
          </a:prstGeom>
          <a:solidFill>
            <a:srgbClr val="1B2752"/>
          </a:solidFill>
          <a:ln w="12700">
            <a:solidFill>
              <a:srgbClr val="1B275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3959352"/>
            <a:ext cx="10634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4370832"/>
            <a:ext cx="10634472" cy="886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Implements an educational Library Management System as a Flask web application, demonstrating core library operations through software — book catalog management, member registration, authenticated book issue and return, due-date tracking and transaction history.</a:t>
            </a:r>
            <a:endParaRPr lang="en-US" sz="1150" dirty="0"/>
          </a:p>
        </p:txBody>
      </p:sp>
      <p:pic>
        <p:nvPicPr>
          <p:cNvPr id="23" name="Image 0" descr="/home/claude/logo_extract-0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400800"/>
            <a:ext cx="822960" cy="301752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1417320" y="6400800"/>
            <a:ext cx="3657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 | 5th Semester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11228832" y="6400800"/>
            <a:ext cx="457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6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ARCHITECTURE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Design &amp; Components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2121408" cy="2743200"/>
          </a:xfrm>
          <a:prstGeom prst="roundRect">
            <a:avLst>
              <a:gd name="adj" fmla="val 3448"/>
            </a:avLst>
          </a:prstGeom>
          <a:solidFill>
            <a:srgbClr val="1B2752"/>
          </a:solidFill>
          <a:ln w="12700">
            <a:solidFill>
              <a:srgbClr val="1B27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89304" y="182880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89304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7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560320"/>
            <a:ext cx="18470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 Model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063240"/>
            <a:ext cx="1847088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DC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catalog and copy-availability information.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88920" y="1554480"/>
            <a:ext cx="2121408" cy="2743200"/>
          </a:xfrm>
          <a:prstGeom prst="roundRect">
            <a:avLst>
              <a:gd name="adj" fmla="val 3448"/>
            </a:avLst>
          </a:prstGeom>
          <a:solidFill>
            <a:srgbClr val="1B2752"/>
          </a:solidFill>
          <a:ln w="12700">
            <a:solidFill>
              <a:srgbClr val="1B275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75304" y="182880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75304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7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926080" y="2560320"/>
            <a:ext cx="18470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Member Model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2926080" y="3063240"/>
            <a:ext cx="1847088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DC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member and librarian account details.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74920" y="1554480"/>
            <a:ext cx="2121408" cy="2743200"/>
          </a:xfrm>
          <a:prstGeom prst="roundRect">
            <a:avLst>
              <a:gd name="adj" fmla="val 3448"/>
            </a:avLst>
          </a:prstGeom>
          <a:solidFill>
            <a:srgbClr val="1B2752"/>
          </a:solidFill>
          <a:ln w="12700">
            <a:solidFill>
              <a:srgbClr val="1B275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61304" y="182880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861304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7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5212080" y="2560320"/>
            <a:ext cx="18470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Flask Routes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212080" y="3063240"/>
            <a:ext cx="1847088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DC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requests and coordinate operations.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360920" y="1554480"/>
            <a:ext cx="2121408" cy="2743200"/>
          </a:xfrm>
          <a:prstGeom prst="roundRect">
            <a:avLst>
              <a:gd name="adj" fmla="val 3448"/>
            </a:avLst>
          </a:prstGeom>
          <a:solidFill>
            <a:srgbClr val="1B2752"/>
          </a:solidFill>
          <a:ln w="12700">
            <a:solidFill>
              <a:srgbClr val="1B275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47304" y="182880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147304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7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498080" y="2560320"/>
            <a:ext cx="18470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SQLAlchemy ORM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7498080" y="3063240"/>
            <a:ext cx="1847088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DC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Persists data to the SQLite database.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646920" y="1554480"/>
            <a:ext cx="2121408" cy="2743200"/>
          </a:xfrm>
          <a:prstGeom prst="roundRect">
            <a:avLst>
              <a:gd name="adj" fmla="val 3448"/>
            </a:avLst>
          </a:prstGeom>
          <a:solidFill>
            <a:srgbClr val="A61C2E"/>
          </a:solidFill>
          <a:ln w="12700">
            <a:solidFill>
              <a:srgbClr val="A61C2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433304" y="182880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433304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61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9784080" y="2560320"/>
            <a:ext cx="18470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Utility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9784080" y="3063240"/>
            <a:ext cx="1847088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DC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Hashes passwords using Werkzeug security.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02920" y="4617720"/>
            <a:ext cx="11183112" cy="777240"/>
          </a:xfrm>
          <a:prstGeom prst="roundRect">
            <a:avLst>
              <a:gd name="adj" fmla="val 9412"/>
            </a:avLst>
          </a:prstGeom>
          <a:solidFill>
            <a:srgbClr val="EEF0F7"/>
          </a:solidFill>
          <a:ln w="12700">
            <a:solidFill>
              <a:srgbClr val="EEF0F7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77240" y="4782312"/>
            <a:ext cx="1063447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Flow:  Browser Request → Flask Route → Auth Check → ORM Query → Database → Render Template → Response</a:t>
            </a:r>
            <a:endParaRPr lang="en-US" sz="1150" dirty="0"/>
          </a:p>
        </p:txBody>
      </p:sp>
      <p:pic>
        <p:nvPicPr>
          <p:cNvPr id="31" name="Image 0" descr="/home/claude/logo_extract-0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400800"/>
            <a:ext cx="822960" cy="301752"/>
          </a:xfrm>
          <a:prstGeom prst="rect">
            <a:avLst/>
          </a:prstGeom>
        </p:spPr>
      </p:pic>
      <p:sp>
        <p:nvSpPr>
          <p:cNvPr id="32" name="Text 29"/>
          <p:cNvSpPr txBox="1"/>
          <p:nvPr/>
        </p:nvSpPr>
        <p:spPr>
          <a:xfrm>
            <a:off x="1417320" y="6400800"/>
            <a:ext cx="3657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 | 5th Semester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11228832" y="6400800"/>
            <a:ext cx="457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6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FUNCTIONALITY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5440680" cy="777240"/>
          </a:xfrm>
          <a:prstGeom prst="roundRect">
            <a:avLst>
              <a:gd name="adj" fmla="val 9412"/>
            </a:avLst>
          </a:prstGeom>
          <a:solidFill>
            <a:srgbClr val="EEF0F7"/>
          </a:solidFill>
          <a:ln w="12700">
            <a:solidFill>
              <a:srgbClr val="EEF0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741932"/>
            <a:ext cx="402336" cy="402336"/>
          </a:xfrm>
          <a:prstGeom prst="ellipse">
            <a:avLst/>
          </a:prstGeom>
          <a:solidFill>
            <a:srgbClr val="1B2752"/>
          </a:solidFill>
          <a:ln w="12700">
            <a:solidFill>
              <a:srgbClr val="1B275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7419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16152" y="1627632"/>
            <a:ext cx="4544568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Librarian &amp; member registration/login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440680" cy="777240"/>
          </a:xfrm>
          <a:prstGeom prst="roundRect">
            <a:avLst>
              <a:gd name="adj" fmla="val 9412"/>
            </a:avLst>
          </a:prstGeom>
          <a:solidFill>
            <a:srgbClr val="EEF0F7"/>
          </a:solidFill>
          <a:ln w="12700">
            <a:solidFill>
              <a:srgbClr val="EEF0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92240" y="1741932"/>
            <a:ext cx="402336" cy="402336"/>
          </a:xfrm>
          <a:prstGeom prst="ellipse">
            <a:avLst/>
          </a:prstGeom>
          <a:solidFill>
            <a:srgbClr val="1B2752"/>
          </a:solidFill>
          <a:ln w="12700">
            <a:solidFill>
              <a:srgbClr val="1B275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92240" y="17419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022592" y="1627632"/>
            <a:ext cx="4544568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Secure, hashed password authentication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2514600"/>
            <a:ext cx="5440680" cy="777240"/>
          </a:xfrm>
          <a:prstGeom prst="roundRect">
            <a:avLst>
              <a:gd name="adj" fmla="val 9412"/>
            </a:avLst>
          </a:prstGeom>
          <a:solidFill>
            <a:srgbClr val="EEF0F7"/>
          </a:solidFill>
          <a:ln w="12700">
            <a:solidFill>
              <a:srgbClr val="EEF0F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2702052"/>
            <a:ext cx="402336" cy="402336"/>
          </a:xfrm>
          <a:prstGeom prst="ellipse">
            <a:avLst/>
          </a:prstGeom>
          <a:solidFill>
            <a:srgbClr val="1B2752"/>
          </a:solidFill>
          <a:ln w="12700">
            <a:solidFill>
              <a:srgbClr val="1B275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27020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216152" y="2587752"/>
            <a:ext cx="4544568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edit and search the book catalog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09360" y="2514600"/>
            <a:ext cx="5440680" cy="777240"/>
          </a:xfrm>
          <a:prstGeom prst="roundRect">
            <a:avLst>
              <a:gd name="adj" fmla="val 9412"/>
            </a:avLst>
          </a:prstGeom>
          <a:solidFill>
            <a:srgbClr val="EEF0F7"/>
          </a:solidFill>
          <a:ln w="12700">
            <a:solidFill>
              <a:srgbClr val="EEF0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92240" y="2702052"/>
            <a:ext cx="402336" cy="402336"/>
          </a:xfrm>
          <a:prstGeom prst="ellipse">
            <a:avLst/>
          </a:prstGeom>
          <a:solidFill>
            <a:srgbClr val="1B2752"/>
          </a:solidFill>
          <a:ln w="12700">
            <a:solidFill>
              <a:srgbClr val="1B275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92240" y="27020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022592" y="2587752"/>
            <a:ext cx="4544568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books with availability checks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3474720"/>
            <a:ext cx="5440680" cy="777240"/>
          </a:xfrm>
          <a:prstGeom prst="roundRect">
            <a:avLst>
              <a:gd name="adj" fmla="val 9412"/>
            </a:avLst>
          </a:prstGeom>
          <a:solidFill>
            <a:srgbClr val="EEF0F7"/>
          </a:solidFill>
          <a:ln w="12700">
            <a:solidFill>
              <a:srgbClr val="EEF0F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" y="3662172"/>
            <a:ext cx="402336" cy="402336"/>
          </a:xfrm>
          <a:prstGeom prst="ellipse">
            <a:avLst/>
          </a:prstGeom>
          <a:solidFill>
            <a:srgbClr val="1B2752"/>
          </a:solidFill>
          <a:ln w="12700">
            <a:solidFill>
              <a:srgbClr val="1B275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5800" y="36621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216152" y="3547872"/>
            <a:ext cx="4544568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books &amp; update copy counts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309360" y="3474720"/>
            <a:ext cx="5440680" cy="777240"/>
          </a:xfrm>
          <a:prstGeom prst="roundRect">
            <a:avLst>
              <a:gd name="adj" fmla="val 9412"/>
            </a:avLst>
          </a:prstGeom>
          <a:solidFill>
            <a:srgbClr val="EEF0F7"/>
          </a:solidFill>
          <a:ln w="12700">
            <a:solidFill>
              <a:srgbClr val="EEF0F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92240" y="3662172"/>
            <a:ext cx="402336" cy="402336"/>
          </a:xfrm>
          <a:prstGeom prst="ellipse">
            <a:avLst/>
          </a:prstGeom>
          <a:solidFill>
            <a:srgbClr val="1B2752"/>
          </a:solidFill>
          <a:ln w="12700">
            <a:solidFill>
              <a:srgbClr val="1B275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92240" y="36621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547872"/>
            <a:ext cx="4544568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issue/return transaction history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2920" y="4434840"/>
            <a:ext cx="5440680" cy="777240"/>
          </a:xfrm>
          <a:prstGeom prst="roundRect">
            <a:avLst>
              <a:gd name="adj" fmla="val 9412"/>
            </a:avLst>
          </a:prstGeom>
          <a:solidFill>
            <a:srgbClr val="EEF0F7"/>
          </a:solidFill>
          <a:ln w="12700">
            <a:solidFill>
              <a:srgbClr val="EEF0F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5800" y="4622292"/>
            <a:ext cx="402336" cy="402336"/>
          </a:xfrm>
          <a:prstGeom prst="ellipse">
            <a:avLst/>
          </a:prstGeom>
          <a:solidFill>
            <a:srgbClr val="1B2752"/>
          </a:solidFill>
          <a:ln w="12700">
            <a:solidFill>
              <a:srgbClr val="1B275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85800" y="46222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1216152" y="4507992"/>
            <a:ext cx="4544568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Due-date tracking for issued books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309360" y="4434840"/>
            <a:ext cx="5440680" cy="777240"/>
          </a:xfrm>
          <a:prstGeom prst="roundRect">
            <a:avLst>
              <a:gd name="adj" fmla="val 9412"/>
            </a:avLst>
          </a:prstGeom>
          <a:solidFill>
            <a:srgbClr val="EEF0F7"/>
          </a:solidFill>
          <a:ln w="12700">
            <a:solidFill>
              <a:srgbClr val="EEF0F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92240" y="4622292"/>
            <a:ext cx="402336" cy="402336"/>
          </a:xfrm>
          <a:prstGeom prst="ellipse">
            <a:avLst/>
          </a:prstGeom>
          <a:solidFill>
            <a:srgbClr val="1B2752"/>
          </a:solidFill>
          <a:ln w="12700">
            <a:solidFill>
              <a:srgbClr val="1B275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492240" y="46222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7022592" y="4507992"/>
            <a:ext cx="4544568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Bootstrap-based dashboard</a:t>
            </a:r>
            <a:endParaRPr lang="en-US" sz="1200" dirty="0"/>
          </a:p>
        </p:txBody>
      </p:sp>
      <p:pic>
        <p:nvPicPr>
          <p:cNvPr id="36" name="Image 0" descr="/home/claude/logo_extract-0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400800"/>
            <a:ext cx="822960" cy="301752"/>
          </a:xfrm>
          <a:prstGeom prst="rect">
            <a:avLst/>
          </a:prstGeom>
        </p:spPr>
      </p:pic>
      <p:sp>
        <p:nvSpPr>
          <p:cNvPr id="37" name="Text 34"/>
          <p:cNvSpPr txBox="1"/>
          <p:nvPr/>
        </p:nvSpPr>
        <p:spPr>
          <a:xfrm>
            <a:off x="1417320" y="6400800"/>
            <a:ext cx="3657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 | 5th Semester</a:t>
            </a:r>
            <a:endParaRPr lang="en-US" sz="1000" dirty="0"/>
          </a:p>
        </p:txBody>
      </p:sp>
      <p:sp>
        <p:nvSpPr>
          <p:cNvPr id="38" name="Text 35"/>
          <p:cNvSpPr txBox="1"/>
          <p:nvPr/>
        </p:nvSpPr>
        <p:spPr>
          <a:xfrm>
            <a:off x="11228832" y="6400800"/>
            <a:ext cx="457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6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Testing, Learnings &amp; Future Scope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3639312" cy="3749040"/>
          </a:xfrm>
          <a:prstGeom prst="roundRect">
            <a:avLst>
              <a:gd name="adj" fmla="val 2010"/>
            </a:avLst>
          </a:prstGeom>
          <a:solidFill>
            <a:srgbClr val="EEF0F7"/>
          </a:solidFill>
          <a:ln w="12700">
            <a:solidFill>
              <a:srgbClr val="EEF0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4088" y="175564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B2752"/>
          </a:solidFill>
          <a:ln w="12700">
            <a:solidFill>
              <a:srgbClr val="1B275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04088" y="1755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04088" y="2340864"/>
            <a:ext cx="32369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3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04088" y="2651760"/>
            <a:ext cx="3236976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valid book issue/return, availability checks, duplicate-return handling, login validation and data persistence.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98264" y="1554480"/>
            <a:ext cx="3639312" cy="3749040"/>
          </a:xfrm>
          <a:prstGeom prst="roundRect">
            <a:avLst>
              <a:gd name="adj" fmla="val 2010"/>
            </a:avLst>
          </a:prstGeom>
          <a:solidFill>
            <a:srgbClr val="EEF0F7"/>
          </a:solidFill>
          <a:ln w="12700">
            <a:solidFill>
              <a:srgbClr val="EEF0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99432" y="175564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A61C2E"/>
          </a:solidFill>
          <a:ln w="12700">
            <a:solidFill>
              <a:srgbClr val="A61C2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99432" y="1755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599432" y="2340864"/>
            <a:ext cx="32369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3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Learnings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99432" y="2651760"/>
            <a:ext cx="3236976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in Flask routing, ORM modelling, authentication, input validation and MTV application design.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293608" y="1554480"/>
            <a:ext cx="3639312" cy="3749040"/>
          </a:xfrm>
          <a:prstGeom prst="roundRect">
            <a:avLst>
              <a:gd name="adj" fmla="val 2010"/>
            </a:avLst>
          </a:prstGeom>
          <a:solidFill>
            <a:srgbClr val="EEF0F7"/>
          </a:solidFill>
          <a:ln w="12700">
            <a:solidFill>
              <a:srgbClr val="EEF0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94776" y="175564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B2752"/>
          </a:solidFill>
          <a:ln w="12700">
            <a:solidFill>
              <a:srgbClr val="1B275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494776" y="1755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494776" y="2340864"/>
            <a:ext cx="32369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3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494776" y="2651760"/>
            <a:ext cx="3236976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database, fine-payment gateway, notifications, React front end and automated testing.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5486400"/>
            <a:ext cx="11183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Disclaimer: this project is an educational simulation for internship learning purposes.</a:t>
            </a:r>
            <a:endParaRPr lang="en-US" sz="1000" dirty="0"/>
          </a:p>
        </p:txBody>
      </p:sp>
      <p:pic>
        <p:nvPicPr>
          <p:cNvPr id="20" name="Image 0" descr="/home/claude/logo_extract-0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400800"/>
            <a:ext cx="822960" cy="301752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1417320" y="6400800"/>
            <a:ext cx="3657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 | 5th Semester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11228832" y="6400800"/>
            <a:ext cx="457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6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 &amp; Knowledge Gained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1810512" cy="3291840"/>
          </a:xfrm>
          <a:prstGeom prst="rect">
            <a:avLst/>
          </a:prstGeom>
          <a:solidFill>
            <a:srgbClr val="1B2752"/>
          </a:solidFill>
          <a:ln w="12700">
            <a:solidFill>
              <a:srgbClr val="1B27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8136" y="187452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88136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7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12648" y="2743200"/>
            <a:ext cx="15910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12648" y="3246120"/>
            <a:ext cx="1591056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DC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Fundamentals, OOP and syntax.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446020" y="1554480"/>
            <a:ext cx="1810512" cy="3291840"/>
          </a:xfrm>
          <a:prstGeom prst="rect">
            <a:avLst/>
          </a:prstGeom>
          <a:solidFill>
            <a:srgbClr val="1B2752"/>
          </a:solidFill>
          <a:ln w="12700">
            <a:solidFill>
              <a:srgbClr val="1B275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31236" y="187452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031236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7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2555748" y="2743200"/>
            <a:ext cx="15910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Flask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2555748" y="3246120"/>
            <a:ext cx="1591056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DC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Routing, templates and MVC design.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389120" y="1554480"/>
            <a:ext cx="1810512" cy="3291840"/>
          </a:xfrm>
          <a:prstGeom prst="rect">
            <a:avLst/>
          </a:prstGeom>
          <a:solidFill>
            <a:srgbClr val="1B2752"/>
          </a:solidFill>
          <a:ln w="12700">
            <a:solidFill>
              <a:srgbClr val="1B275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74336" y="187452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974336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7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4498848" y="2743200"/>
            <a:ext cx="15910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Dev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498848" y="3246120"/>
            <a:ext cx="1591056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DC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HTML, CSS, JavaScript, Bootstrap.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332220" y="1554480"/>
            <a:ext cx="1810512" cy="3291840"/>
          </a:xfrm>
          <a:prstGeom prst="rect">
            <a:avLst/>
          </a:prstGeom>
          <a:solidFill>
            <a:srgbClr val="A61C2E"/>
          </a:solidFill>
          <a:ln w="12700">
            <a:solidFill>
              <a:srgbClr val="A61C2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17436" y="187452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917436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61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6441948" y="2743200"/>
            <a:ext cx="15910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/ ORM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441948" y="3246120"/>
            <a:ext cx="1591056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DC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 and SQLAlchemy.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275320" y="1554480"/>
            <a:ext cx="1810512" cy="3291840"/>
          </a:xfrm>
          <a:prstGeom prst="rect">
            <a:avLst/>
          </a:prstGeom>
          <a:solidFill>
            <a:srgbClr val="1B2752"/>
          </a:solidFill>
          <a:ln w="12700">
            <a:solidFill>
              <a:srgbClr val="1B275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860536" y="187452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860536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7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8385048" y="2743200"/>
            <a:ext cx="15910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APIs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8385048" y="3246120"/>
            <a:ext cx="1591056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DC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design and integration.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10218420" y="1554480"/>
            <a:ext cx="1810512" cy="3291840"/>
          </a:xfrm>
          <a:prstGeom prst="rect">
            <a:avLst/>
          </a:prstGeom>
          <a:solidFill>
            <a:srgbClr val="1B2752"/>
          </a:solidFill>
          <a:ln w="12700">
            <a:solidFill>
              <a:srgbClr val="1B275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803636" y="187452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803636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7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10328148" y="2743200"/>
            <a:ext cx="15910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10328148" y="3246120"/>
            <a:ext cx="1591056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DC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Git, testing and hosting basics.</a:t>
            </a:r>
            <a:endParaRPr lang="en-US" sz="950" dirty="0"/>
          </a:p>
        </p:txBody>
      </p:sp>
      <p:pic>
        <p:nvPicPr>
          <p:cNvPr id="34" name="Image 0" descr="/home/claude/logo_extract-0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400800"/>
            <a:ext cx="822960" cy="301752"/>
          </a:xfrm>
          <a:prstGeom prst="rect">
            <a:avLst/>
          </a:prstGeom>
        </p:spPr>
      </p:pic>
      <p:sp>
        <p:nvSpPr>
          <p:cNvPr id="35" name="Text 32"/>
          <p:cNvSpPr txBox="1"/>
          <p:nvPr/>
        </p:nvSpPr>
        <p:spPr>
          <a:xfrm>
            <a:off x="1417320" y="6400800"/>
            <a:ext cx="3657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 | 5th Semester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11228832" y="6400800"/>
            <a:ext cx="457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6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How I Improved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5486400" cy="3840480"/>
          </a:xfrm>
          <a:prstGeom prst="roundRect">
            <a:avLst>
              <a:gd name="adj" fmla="val 1905"/>
            </a:avLst>
          </a:prstGeom>
          <a:solidFill>
            <a:srgbClr val="EEF0F7"/>
          </a:solidFill>
          <a:ln w="12700">
            <a:solidFill>
              <a:srgbClr val="EEF0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19072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3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  Challenges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30552"/>
            <a:ext cx="4937760" cy="3127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Connecting front-end and back-end logic through APIs needed careful, structured thinking.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Designing database relationships correctly for the ORM was a new concept.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Some fullstack integration bugs were difficult to trace across layers.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035040" y="1554480"/>
            <a:ext cx="5650992" cy="3840480"/>
          </a:xfrm>
          <a:prstGeom prst="roundRect">
            <a:avLst>
              <a:gd name="adj" fmla="val 1905"/>
            </a:avLst>
          </a:prstGeom>
          <a:solidFill>
            <a:srgbClr val="1B2752"/>
          </a:solidFill>
          <a:ln w="12700">
            <a:solidFill>
              <a:srgbClr val="1B275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09360" y="1719072"/>
            <a:ext cx="51023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  How I Improved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309360" y="2130552"/>
            <a:ext cx="5102352" cy="3127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Broke integration problems into smaller, testable pieces (front end, route, database) before combining them.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Referred back to weekly training material and revised concepts through hands-on practice.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Focused on writing cleaner, better-validated code with each iteration.</a:t>
            </a:r>
            <a:endParaRPr lang="en-US" sz="1150" dirty="0"/>
          </a:p>
        </p:txBody>
      </p:sp>
      <p:pic>
        <p:nvPicPr>
          <p:cNvPr id="10" name="Image 0" descr="/home/claude/logo_extract-0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400800"/>
            <a:ext cx="822960" cy="301752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417320" y="6400800"/>
            <a:ext cx="3657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 | 5th Semester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11228832" y="6400800"/>
            <a:ext cx="457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6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JOURNEY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Overall Internship Progress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88720" y="2286000"/>
            <a:ext cx="10835640" cy="0"/>
          </a:xfrm>
          <a:prstGeom prst="line">
            <a:avLst/>
          </a:prstGeom>
          <a:noFill/>
          <a:ln w="25400">
            <a:solidFill>
              <a:srgbClr val="C7D0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011680"/>
            <a:ext cx="548640" cy="548640"/>
          </a:xfrm>
          <a:prstGeom prst="ellipse">
            <a:avLst/>
          </a:prstGeom>
          <a:solidFill>
            <a:srgbClr val="1B2752"/>
          </a:solidFill>
          <a:ln w="12700">
            <a:solidFill>
              <a:srgbClr val="1B275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74320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3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1-2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090672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fundamentals &amp; OOP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840480" y="2011680"/>
            <a:ext cx="548640" cy="548640"/>
          </a:xfrm>
          <a:prstGeom prst="ellipse">
            <a:avLst/>
          </a:prstGeom>
          <a:solidFill>
            <a:srgbClr val="1B2752"/>
          </a:solidFill>
          <a:ln w="12700">
            <a:solidFill>
              <a:srgbClr val="1B275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84048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383280" y="274320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3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3-4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383280" y="3090672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 development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766560" y="2011680"/>
            <a:ext cx="548640" cy="548640"/>
          </a:xfrm>
          <a:prstGeom prst="ellipse">
            <a:avLst/>
          </a:prstGeom>
          <a:solidFill>
            <a:srgbClr val="1B2752"/>
          </a:solidFill>
          <a:ln w="12700">
            <a:solidFill>
              <a:srgbClr val="1B275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76656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309360" y="274320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3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5-6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309360" y="3090672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Back-end &amp; databases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692640" y="2011680"/>
            <a:ext cx="548640" cy="548640"/>
          </a:xfrm>
          <a:prstGeom prst="ellipse">
            <a:avLst/>
          </a:prstGeom>
          <a:solidFill>
            <a:srgbClr val="A61C2E"/>
          </a:solidFill>
          <a:ln w="12700">
            <a:solidFill>
              <a:srgbClr val="A61C2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69264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9235440" y="274320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3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7-8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9235440" y="3090672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APIs, testing &amp; capstone project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02920" y="4389120"/>
            <a:ext cx="11183112" cy="868680"/>
          </a:xfrm>
          <a:prstGeom prst="roundRect">
            <a:avLst>
              <a:gd name="adj" fmla="val 8421"/>
            </a:avLst>
          </a:prstGeom>
          <a:solidFill>
            <a:srgbClr val="A61C2E"/>
          </a:solidFill>
          <a:ln w="12700">
            <a:solidFill>
              <a:srgbClr val="A61C2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" y="4553712"/>
            <a:ext cx="1063447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Outcome:  Strong, practical foundation across the fullstack development lifecycle — from Python basics to a working, deployed web application.</a:t>
            </a:r>
            <a:endParaRPr lang="en-US" sz="1150" dirty="0"/>
          </a:p>
        </p:txBody>
      </p:sp>
      <p:pic>
        <p:nvPicPr>
          <p:cNvPr id="23" name="Image 0" descr="/home/claude/logo_extract-0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400800"/>
            <a:ext cx="822960" cy="301752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1417320" y="6400800"/>
            <a:ext cx="3657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 | 5th Semester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11228832" y="6400800"/>
            <a:ext cx="457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620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114800" cy="4114800"/>
          </a:xfrm>
          <a:prstGeom prst="ellipse">
            <a:avLst/>
          </a:prstGeom>
          <a:solidFill>
            <a:srgbClr val="1B2752"/>
          </a:solidFill>
          <a:ln w="12700">
            <a:solidFill>
              <a:srgbClr val="1B275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A6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WRAPPING UP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82296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691640"/>
            <a:ext cx="10515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E6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progressive, practical foundation in fullstack web development.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E6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Strengthened Python fundamentals and object-oriented programming.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E6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front-end, back-end, database and API integration end-to-end.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E6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every concept in a working Library Management System capstone project.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E6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debugging, validation and structured problem-solving skills.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E6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internship increased my confidence in building complete, real-world web applications.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4892040"/>
            <a:ext cx="11183112" cy="0"/>
          </a:xfrm>
          <a:prstGeom prst="line">
            <a:avLst/>
          </a:prstGeom>
          <a:noFill/>
          <a:ln w="12700">
            <a:solidFill>
              <a:srgbClr val="3A447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" y="507492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61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56235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Shan Saini  |  B.Tech CSE, 5th Semester  |  IILM University</a:t>
            </a:r>
            <a:endParaRPr lang="en-US" sz="1200" dirty="0"/>
          </a:p>
        </p:txBody>
      </p:sp>
      <p:pic>
        <p:nvPicPr>
          <p:cNvPr id="9" name="Image 0" descr="/home/claude/logo_extract-0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172200"/>
            <a:ext cx="1005840" cy="3657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2026-09-26T20:14:27Z</dcterms:created>
  <dcterms:modified xsi:type="dcterms:W3CDTF">2026-09-26T20:14:27Z</dcterms:modified>
</cp:coreProperties>
</file>